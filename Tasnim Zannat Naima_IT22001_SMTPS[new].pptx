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8"/>
  </p:notesMasterIdLst>
  <p:sldIdLst>
    <p:sldId id="256" r:id="rId3"/>
    <p:sldId id="264" r:id="rId4"/>
    <p:sldId id="257" r:id="rId5"/>
    <p:sldId id="270" r:id="rId6"/>
    <p:sldId id="266" r:id="rId7"/>
    <p:sldId id="267" r:id="rId8"/>
    <p:sldId id="258" r:id="rId9"/>
    <p:sldId id="269" r:id="rId10"/>
    <p:sldId id="259" r:id="rId11"/>
    <p:sldId id="260" r:id="rId12"/>
    <p:sldId id="261" r:id="rId13"/>
    <p:sldId id="262" r:id="rId14"/>
    <p:sldId id="268" r:id="rId15"/>
    <p:sldId id="263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719F"/>
    <a:srgbClr val="7B6993"/>
    <a:srgbClr val="CAA9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主题样式 1 - 强调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84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547813" y="1701800"/>
            <a:ext cx="6908800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547813" y="2927350"/>
            <a:ext cx="6913562" cy="1752600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1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r>
              <a:rPr lang="en-US"/>
              <a:t>IT-22001</a:t>
            </a:r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IT-22001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IT-22001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IT-22001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IT-22001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IT-22001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IT-22001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IT-22001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IT-22001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IT-22001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IT-22001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E719F">
            <a:alpha val="82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6350" y="0"/>
            <a:ext cx="915035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1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r>
              <a:rPr lang="en-US"/>
              <a:t>IT-22001</a:t>
            </a:r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6175" y="1795780"/>
            <a:ext cx="6366510" cy="1082675"/>
          </a:xfrm>
        </p:spPr>
        <p:txBody>
          <a:bodyPr/>
          <a:lstStyle/>
          <a:p>
            <a:r>
              <a:rPr lang="en-US" sz="2800" b="1">
                <a:latin typeface="Times New Roman" panose="02020603050405020304" charset="0"/>
                <a:cs typeface="Times New Roman" panose="02020603050405020304" charset="0"/>
              </a:rPr>
              <a:t>Presentation title: </a:t>
            </a:r>
            <a:r>
              <a:rPr sz="2800" b="1">
                <a:latin typeface="Times New Roman" panose="02020603050405020304" charset="0"/>
                <a:cs typeface="Times New Roman" panose="02020603050405020304" charset="0"/>
              </a:rPr>
              <a:t>SMTPS (Simple Mail Transfer Protocol Secure)</a:t>
            </a:r>
            <a:endParaRPr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15173" y="1714500"/>
            <a:ext cx="6913562" cy="1752600"/>
          </a:xfrm>
        </p:spPr>
        <p:txBody>
          <a:bodyPr/>
          <a:lstStyle/>
          <a:p>
            <a:endParaRPr sz="2800">
              <a:solidFill>
                <a:srgbClr val="0070C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1800" b="1" i="1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4300220" y="3886200"/>
          <a:ext cx="4641850" cy="2245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6965"/>
                <a:gridCol w="2254885"/>
              </a:tblGrid>
              <a:tr h="5086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Presented by</a:t>
                      </a: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t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Supervised by</a:t>
                      </a:r>
                      <a:endParaRPr lang="en-US" alt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t" anchorCtr="0"/>
                </a:tc>
              </a:tr>
              <a:tr h="7867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Tasnim Zannat Naima</a:t>
                      </a: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ID: IT-22001</a:t>
                      </a: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Session: 2021-22</a:t>
                      </a: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Dept of ICT,MBSTU</a:t>
                      </a: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>
                        <a:buNone/>
                      </a:pP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t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Dr. Nazrul Islam</a:t>
                      </a:r>
                      <a:endParaRPr lang="en-US" alt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Associate Professor</a:t>
                      </a:r>
                      <a:endParaRPr lang="en-US" alt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Dept. of ICT,</a:t>
                      </a:r>
                      <a:endParaRPr lang="en-US" alt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MBSTU</a:t>
                      </a:r>
                      <a:endParaRPr lang="en-US" alt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t" anchorCtr="0"/>
                </a:tc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4686300" y="2959735"/>
            <a:ext cx="409638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latin typeface="Times New Roman" panose="02020603050405020304" charset="0"/>
                <a:cs typeface="Times New Roman" panose="02020603050405020304" charset="0"/>
              </a:rPr>
              <a:t>Course Title: Computer Networks</a:t>
            </a:r>
            <a:endParaRPr 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000">
                <a:latin typeface="Times New Roman" panose="02020603050405020304" charset="0"/>
                <a:cs typeface="Times New Roman" panose="02020603050405020304" charset="0"/>
              </a:rPr>
              <a:t>Course Code: ICT-3201</a:t>
            </a:r>
            <a:endParaRPr 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Picture 5" descr="MBSTU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0035" y="179705"/>
            <a:ext cx="1624965" cy="16160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Contents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Introduction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SMTP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Why SMTPS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Working Principle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Key Features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SMTPS vs SMTP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SMTPS Communication Process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Advantages and Limitations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75000"/>
              </a:lnSpc>
              <a:spcBef>
                <a:spcPts val="20"/>
              </a:spcBef>
              <a:spcAft>
                <a:spcPts val="0"/>
              </a:spcAft>
              <a:buNone/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Real-World Example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Conclusion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1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IT-22001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</p:spPr>
        <p:txBody>
          <a:bodyPr/>
          <a:lstStyle/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Introduction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SMTPS stands for Simple Mail Transfer Protocol Secure.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It is the secure version of SMTP that uses SSL/TLS encryption.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Ensures that email data transmitted between mail servers is encrypted.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Introduced to enhance privacy and prevent eavesdropping.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1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IT-22001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SMTP-Simple-Mail-Transfer-Protocol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66700" y="1083310"/>
            <a:ext cx="8289290" cy="482473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1">
              <a:rPr lang="en-US" smtClean="0"/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IT-22001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SMTP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SMTP (Simple Mail Transfer Protocol) is used for sending emails between servers.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It operates on port 25 (default).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SMTP itself is not encrypted, meaning emails can be intercepted.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1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IT-22001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Why SMTPS?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lnSpc>
                <a:spcPct val="100000"/>
              </a:lnSpc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SMTP alone is insecure.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SMTPS ensures data privacy and integrity.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Prevents eavesdropping, spoofing, and tampering during email transfer.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1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IT-22001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Working Principle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sz="30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000">
                <a:latin typeface="Times New Roman" panose="02020603050405020304" charset="0"/>
                <a:cs typeface="Times New Roman" panose="02020603050405020304" charset="0"/>
              </a:rPr>
              <a:t>SMTPS works on the same principles as </a:t>
            </a:r>
            <a:r>
              <a:rPr lang="en-US" sz="3000">
                <a:latin typeface="Times New Roman" panose="02020603050405020304" charset="0"/>
                <a:cs typeface="Times New Roman" panose="02020603050405020304" charset="0"/>
              </a:rPr>
              <a:t>     </a:t>
            </a:r>
            <a:r>
              <a:rPr sz="3000">
                <a:latin typeface="Times New Roman" panose="02020603050405020304" charset="0"/>
                <a:cs typeface="Times New Roman" panose="02020603050405020304" charset="0"/>
              </a:rPr>
              <a:t>SMTP but adds a security layer using SSL/TLS.</a:t>
            </a:r>
            <a:endParaRPr sz="3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endParaRPr sz="3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en-US" sz="3000">
                <a:latin typeface="Times New Roman" panose="02020603050405020304" charset="0"/>
                <a:cs typeface="Times New Roman" panose="02020603050405020304" charset="0"/>
              </a:rPr>
              <a:t>Client connects to mail server using SSL/TLS.</a:t>
            </a:r>
            <a:endParaRPr lang="en-US" altLang="en-US" sz="3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endParaRPr lang="en-US" altLang="en-US" sz="3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en-US" sz="3000">
                <a:latin typeface="Times New Roman" panose="02020603050405020304" charset="0"/>
                <a:cs typeface="Times New Roman" panose="02020603050405020304" charset="0"/>
              </a:rPr>
              <a:t>Server sends a digital certificate to authenticate itself.</a:t>
            </a:r>
            <a:endParaRPr lang="en-US" altLang="en-US" sz="3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endParaRPr lang="en-US" altLang="en-US" sz="3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en-US" sz="3000">
                <a:latin typeface="Times New Roman" panose="02020603050405020304" charset="0"/>
                <a:cs typeface="Times New Roman" panose="02020603050405020304" charset="0"/>
              </a:rPr>
              <a:t>Encrypted channel is established.</a:t>
            </a:r>
            <a:endParaRPr lang="en-US" altLang="en-US" sz="3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endParaRPr lang="en-US" altLang="en-US" sz="3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en-US" sz="3000">
                <a:latin typeface="Times New Roman" panose="02020603050405020304" charset="0"/>
                <a:cs typeface="Times New Roman" panose="02020603050405020304" charset="0"/>
              </a:rPr>
              <a:t>Email is transmitted securely using SMTP commands.</a:t>
            </a:r>
            <a:endParaRPr lang="en-US" altLang="en-US" sz="3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1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IT-22001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Content Placeholder 5" descr="images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15010" y="757555"/>
            <a:ext cx="6662420" cy="512699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1">
              <a:rPr lang="en-US" smtClean="0"/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IT-22001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79095"/>
            <a:ext cx="8229600" cy="582613"/>
          </a:xfrm>
        </p:spPr>
        <p:txBody>
          <a:bodyPr/>
          <a:lstStyle/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Key Features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Provides authentication and encryption.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Prevents interception of emails by third parties.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Supports both implicit and explicit TLS.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Ensures integrity and confidentiality of messages.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1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IT-22001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SMTPS vs SMTP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457835" y="1405890"/>
          <a:ext cx="8025765" cy="4078605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2588260"/>
                <a:gridCol w="2085975"/>
                <a:gridCol w="3351530"/>
              </a:tblGrid>
              <a:tr h="86360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spc="130">
                          <a:latin typeface="Times New Roman" panose="02020603050405020304" charset="0"/>
                          <a:cs typeface="Times New Roman" panose="02020603050405020304" charset="0"/>
                        </a:rPr>
                        <a:t>Feature</a:t>
                      </a:r>
                      <a:endParaRPr lang="en-US" sz="2400" b="1" spc="13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spc="130">
                          <a:latin typeface="Times New Roman" panose="02020603050405020304" charset="0"/>
                          <a:cs typeface="Times New Roman" panose="02020603050405020304" charset="0"/>
                        </a:rPr>
                        <a:t>SMTP</a:t>
                      </a:r>
                      <a:endParaRPr lang="en-US" sz="2400" b="1" spc="13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spc="130">
                          <a:latin typeface="Times New Roman" panose="02020603050405020304" charset="0"/>
                          <a:cs typeface="Times New Roman" panose="02020603050405020304" charset="0"/>
                        </a:rPr>
                        <a:t>SMTPS</a:t>
                      </a:r>
                      <a:endParaRPr lang="en-US" sz="2400" b="1" spc="13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77800" marR="177800" marT="107950" marB="107950" anchor="ctr" anchorCtr="0"/>
                </a:tc>
              </a:tr>
              <a:tr h="80391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spc="120">
                          <a:latin typeface="Times New Roman" panose="02020603050405020304" charset="0"/>
                          <a:cs typeface="Times New Roman" panose="02020603050405020304" charset="0"/>
                        </a:rPr>
                        <a:t>Encryption</a:t>
                      </a:r>
                      <a:endParaRPr lang="en-US" sz="1500" spc="12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spc="120">
                          <a:latin typeface="Times New Roman" panose="02020603050405020304" charset="0"/>
                          <a:cs typeface="Times New Roman" panose="02020603050405020304" charset="0"/>
                        </a:rPr>
                        <a:t>No</a:t>
                      </a:r>
                      <a:endParaRPr sz="1500" spc="12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spc="120">
                          <a:latin typeface="Times New Roman" panose="02020603050405020304" charset="0"/>
                          <a:cs typeface="Times New Roman" panose="02020603050405020304" charset="0"/>
                        </a:rPr>
                        <a:t>Yes (SSL/TLS)</a:t>
                      </a:r>
                      <a:endParaRPr sz="1500" spc="12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77800" marR="177800" marT="107950" marB="107950" anchor="ctr" anchorCtr="0"/>
                </a:tc>
              </a:tr>
              <a:tr h="80327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spc="120">
                          <a:latin typeface="Times New Roman" panose="02020603050405020304" charset="0"/>
                          <a:cs typeface="Times New Roman" panose="02020603050405020304" charset="0"/>
                        </a:rPr>
                        <a:t>Default Port</a:t>
                      </a:r>
                      <a:endParaRPr sz="1500" spc="12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spc="120">
                          <a:latin typeface="Times New Roman" panose="02020603050405020304" charset="0"/>
                          <a:cs typeface="Times New Roman" panose="02020603050405020304" charset="0"/>
                        </a:rPr>
                        <a:t>25</a:t>
                      </a:r>
                      <a:endParaRPr sz="1500" spc="12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spc="120">
                          <a:latin typeface="Times New Roman" panose="02020603050405020304" charset="0"/>
                          <a:cs typeface="Times New Roman" panose="02020603050405020304" charset="0"/>
                        </a:rPr>
                        <a:t>465 / 587</a:t>
                      </a:r>
                      <a:endParaRPr sz="1500" spc="12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77800" marR="177800" marT="107950" marB="107950" anchor="ctr" anchorCtr="0"/>
                </a:tc>
              </a:tr>
              <a:tr h="80454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spc="120">
                          <a:latin typeface="Times New Roman" panose="02020603050405020304" charset="0"/>
                          <a:cs typeface="Times New Roman" panose="02020603050405020304" charset="0"/>
                        </a:rPr>
                        <a:t>Security</a:t>
                      </a:r>
                      <a:endParaRPr sz="1500" spc="12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spc="120">
                          <a:latin typeface="Times New Roman" panose="02020603050405020304" charset="0"/>
                          <a:cs typeface="Times New Roman" panose="02020603050405020304" charset="0"/>
                        </a:rPr>
                        <a:t>Low</a:t>
                      </a:r>
                      <a:endParaRPr sz="1500" spc="12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spc="120">
                          <a:latin typeface="Times New Roman" panose="02020603050405020304" charset="0"/>
                          <a:cs typeface="Times New Roman" panose="02020603050405020304" charset="0"/>
                        </a:rPr>
                        <a:t>High</a:t>
                      </a:r>
                      <a:endParaRPr sz="1500" spc="12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77800" marR="177800" marT="107950" marB="107950" anchor="ctr" anchorCtr="0"/>
                </a:tc>
              </a:tr>
              <a:tr h="80327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spc="120">
                          <a:latin typeface="Times New Roman" panose="02020603050405020304" charset="0"/>
                          <a:cs typeface="Times New Roman" panose="02020603050405020304" charset="0"/>
                        </a:rPr>
                        <a:t>Usage</a:t>
                      </a:r>
                      <a:endParaRPr sz="1500" spc="12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spc="120">
                          <a:latin typeface="Times New Roman" panose="02020603050405020304" charset="0"/>
                          <a:cs typeface="Times New Roman" panose="02020603050405020304" charset="0"/>
                        </a:rPr>
                        <a:t>Outdated</a:t>
                      </a:r>
                      <a:endParaRPr sz="1500" spc="12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spc="120">
                          <a:latin typeface="Times New Roman" panose="02020603050405020304" charset="0"/>
                          <a:cs typeface="Times New Roman" panose="02020603050405020304" charset="0"/>
                        </a:rPr>
                        <a:t>Modern standard</a:t>
                      </a:r>
                      <a:endParaRPr sz="1500" spc="12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77800" marR="177800" marT="107950" marB="107950" anchor="ctr" anchorCtr="0"/>
                </a:tc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1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IT-22001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SMTPS Communication Process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Mail client initiates a connection.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Server responds with its certificate.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Client verifies certificate authenticity.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Encrypted communication begins.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Emails are transmitted securely.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1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IT-22001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Advantages and Limitations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>
                <a:latin typeface="Times New Roman" panose="02020603050405020304" charset="0"/>
                <a:cs typeface="Times New Roman" panose="02020603050405020304" charset="0"/>
              </a:rPr>
              <a:t>Advantages:</a:t>
            </a:r>
            <a:endParaRPr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0">
              <a:buNone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Secure and reliable email delivery.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0">
              <a:buNone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Protects data from attackers.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0">
              <a:buNone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Easy integration with existing mail systems.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endParaRPr sz="2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2800">
                <a:latin typeface="Times New Roman" panose="02020603050405020304" charset="0"/>
                <a:cs typeface="Times New Roman" panose="02020603050405020304" charset="0"/>
              </a:rPr>
              <a:t>Limitations:</a:t>
            </a:r>
            <a:endParaRPr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0">
              <a:buNone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Requires SSL certificates.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0">
              <a:buNone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Slightly higher server overhead.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0">
              <a:buNone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Dependent on client-side support for TLS.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1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IT-22001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6905" y="190500"/>
            <a:ext cx="8229600" cy="582613"/>
          </a:xfrm>
        </p:spPr>
        <p:txBody>
          <a:bodyPr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Real-World Example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lnSpc>
                <a:spcPct val="80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Gmail, Yahoo Mail, and Outlook use SMTPS for secure email transmission.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75000"/>
              </a:lnSpc>
              <a:spcBef>
                <a:spcPts val="20"/>
              </a:spcBef>
              <a:spcAft>
                <a:spcPts val="0"/>
              </a:spcAft>
              <a:buNone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Example configuration: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75000"/>
              </a:lnSpc>
              <a:spcBef>
                <a:spcPts val="20"/>
              </a:spcBef>
              <a:spcAft>
                <a:spcPts val="0"/>
              </a:spcAft>
              <a:buNone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971550" lvl="1" indent="-514350">
              <a:lnSpc>
                <a:spcPct val="75000"/>
              </a:lnSpc>
              <a:spcBef>
                <a:spcPts val="20"/>
              </a:spcBef>
              <a:spcAft>
                <a:spcPts val="0"/>
              </a:spcAft>
              <a:buAutoNum type="arabicPeriod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Server: smtp.gmail.com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971550" lvl="1" indent="-514350">
              <a:lnSpc>
                <a:spcPct val="75000"/>
              </a:lnSpc>
              <a:spcBef>
                <a:spcPts val="20"/>
              </a:spcBef>
              <a:spcAft>
                <a:spcPts val="0"/>
              </a:spcAft>
              <a:buAutoNum type="arabicPeriod"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971550" lvl="1" indent="-514350">
              <a:lnSpc>
                <a:spcPct val="75000"/>
              </a:lnSpc>
              <a:spcBef>
                <a:spcPts val="20"/>
              </a:spcBef>
              <a:spcAft>
                <a:spcPts val="0"/>
              </a:spcAft>
              <a:buAutoNum type="arabicPeriod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Port: 465 (SSL) or 587 (TLS)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971550" lvl="1" indent="-514350">
              <a:lnSpc>
                <a:spcPct val="75000"/>
              </a:lnSpc>
              <a:spcBef>
                <a:spcPts val="20"/>
              </a:spcBef>
              <a:spcAft>
                <a:spcPts val="0"/>
              </a:spcAft>
              <a:buAutoNum type="arabicPeriod"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971550" lvl="1" indent="-514350">
              <a:lnSpc>
                <a:spcPct val="75000"/>
              </a:lnSpc>
              <a:spcBef>
                <a:spcPts val="20"/>
              </a:spcBef>
              <a:spcAft>
                <a:spcPts val="0"/>
              </a:spcAft>
              <a:buAutoNum type="arabicPeriod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Authentication: Required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1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IT-22001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805" y="190500"/>
            <a:ext cx="8229600" cy="582613"/>
          </a:xfrm>
        </p:spPr>
        <p:txBody>
          <a:bodyPr/>
          <a:lstStyle/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Conclusion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805" y="1174750"/>
            <a:ext cx="8229600" cy="49530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SMTPS ensures secure, encrypted email transmission.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90000"/>
              </a:lnSpc>
              <a:spcBef>
                <a:spcPts val="20"/>
              </a:spcBef>
              <a:spcAft>
                <a:spcPts val="0"/>
              </a:spcAft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90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It’s an essential standard for modern email communication.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90000"/>
              </a:lnSpc>
              <a:spcBef>
                <a:spcPts val="20"/>
              </a:spcBef>
              <a:spcAft>
                <a:spcPts val="0"/>
              </a:spcAft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90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SMTP + TLS = SMTPS → Safe Email Exchange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1805" y="6245225"/>
            <a:ext cx="2133600" cy="476250"/>
          </a:xfrm>
        </p:spPr>
        <p:txBody>
          <a:bodyPr/>
          <a:p>
            <a:fld id="{5BCAD085-E8A6-8845-BD4E-CB4CCA059FC4}" type="datetime1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67805" y="6245225"/>
            <a:ext cx="2133600" cy="476250"/>
          </a:xfrm>
        </p:spPr>
        <p:txBody>
          <a:bodyPr/>
          <a:p>
            <a:fld id="{C1FF6DA9-008F-8B48-92A6-B652298478BF}" type="slidenum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38805" y="6245225"/>
            <a:ext cx="2895600" cy="476250"/>
          </a:xfrm>
        </p:spPr>
        <p:txBody>
          <a:bodyPr/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IT-22001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1008380" y="2677795"/>
            <a:ext cx="7136130" cy="1739900"/>
          </a:xfrm>
          <a:prstGeom prst="rect">
            <a:avLst/>
          </a:prstGeom>
          <a:noFill/>
        </p:spPr>
        <p:txBody>
          <a:bodyPr wrap="square" rtlCol="0">
            <a:prstTxWarp prst="textInflateBottom">
              <a:avLst>
                <a:gd name="adj" fmla="val 60000"/>
              </a:avLst>
            </a:prstTxWarp>
            <a:noAutofit/>
            <a:scene3d>
              <a:camera prst="orthographicFront"/>
              <a:lightRig rig="threePt" dir="t"/>
            </a:scene3d>
          </a:bodyPr>
          <a:p>
            <a:r>
              <a:rPr lang="en-US">
                <a:solidFill>
                  <a:srgbClr val="002060"/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charset="0"/>
                <a:cs typeface="Times New Roman" panose="02020603050405020304" charset="0"/>
              </a:rPr>
              <a:t>Thank You</a:t>
            </a:r>
            <a:endParaRPr lang="en-US">
              <a:solidFill>
                <a:srgbClr val="002060"/>
              </a:solidFill>
              <a:effectLst>
                <a:reflection blurRad="6350" stA="53000" endA="300" endPos="35500" dir="5400000" sy="-90000" algn="bl" rotWithShape="0"/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1">
              <a:rPr lang="en-US" smtClean="0"/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IT-22001</a:t>
            </a:r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403*102"/>
  <p:tag name="TABLE_ENDDRAG_RECT" val="278*292*403*102"/>
</p:tagLst>
</file>

<file path=ppt/tags/tag2.xml><?xml version="1.0" encoding="utf-8"?>
<p:tagLst xmlns:p="http://schemas.openxmlformats.org/presentationml/2006/main">
  <p:tag name="TABLE_ENDDRAG_ORIGIN_RECT" val="608*199"/>
  <p:tag name="TABLE_ENDDRAG_RECT" val="60*103*608*199"/>
  <p:tag name="TABLE_AUTOADJUST_FLAG" val="1"/>
</p:tagLst>
</file>

<file path=ppt/theme/theme1.xml><?xml version="1.0" encoding="utf-8"?>
<a:theme xmlns:a="http://schemas.openxmlformats.org/drawingml/2006/main" name="Gear Drives">
  <a:themeElements>
    <a:clrScheme name="Gear Dri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5F5F5F"/>
      </a:accent1>
      <a:accent2>
        <a:srgbClr val="969696"/>
      </a:accent2>
      <a:accent3>
        <a:srgbClr val="FFFFFF"/>
      </a:accent3>
      <a:accent4>
        <a:srgbClr val="000000"/>
      </a:accent4>
      <a:accent5>
        <a:srgbClr val="B6B6B6"/>
      </a:accent5>
      <a:accent6>
        <a:srgbClr val="878787"/>
      </a:accent6>
      <a:hlink>
        <a:srgbClr val="CC3300"/>
      </a:hlink>
      <a:folHlink>
        <a:srgbClr val="996600"/>
      </a:folHlink>
    </a:clrScheme>
    <a:fontScheme name="Gear Dri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ear Dri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5F5F5F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B6B6B6"/>
        </a:accent5>
        <a:accent6>
          <a:srgbClr val="87878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2576</Words>
  <Application>WPS Presentation</Application>
  <PresentationFormat>On-screen Show (4:3)</PresentationFormat>
  <Paragraphs>250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SimSun</vt:lpstr>
      <vt:lpstr>Wingdings</vt:lpstr>
      <vt:lpstr>Times New Roman</vt:lpstr>
      <vt:lpstr>Microsoft YaHei</vt:lpstr>
      <vt:lpstr>Arial Unicode MS</vt:lpstr>
      <vt:lpstr>Calibri</vt:lpstr>
      <vt:lpstr>Gear Drives</vt:lpstr>
      <vt:lpstr>Presentation title: SMTPS (Simple Mail Transfer Protocol Secure)</vt:lpstr>
      <vt:lpstr>Contents</vt:lpstr>
      <vt:lpstr>Introduction</vt:lpstr>
      <vt:lpstr>PowerPoint 演示文稿</vt:lpstr>
      <vt:lpstr>SMTP</vt:lpstr>
      <vt:lpstr>Why SMTPS?</vt:lpstr>
      <vt:lpstr>Working Principle</vt:lpstr>
      <vt:lpstr>PowerPoint 演示文稿</vt:lpstr>
      <vt:lpstr>Key Features</vt:lpstr>
      <vt:lpstr>SMTPS vs SMTP</vt:lpstr>
      <vt:lpstr>SMTPS Communication Process</vt:lpstr>
      <vt:lpstr>Advantages and Limitations</vt:lpstr>
      <vt:lpstr>Real-World Example</vt:lpstr>
      <vt:lpstr>Conclusion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Tasnim Zannat Naima</cp:lastModifiedBy>
  <cp:revision>13</cp:revision>
  <dcterms:created xsi:type="dcterms:W3CDTF">2013-01-27T09:14:00Z</dcterms:created>
  <dcterms:modified xsi:type="dcterms:W3CDTF">2025-10-22T14:18:33Z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B1731F67130C40DD8311F1163BEAF7FF_13</vt:lpwstr>
  </property>
  <property fmtid="{D5CDD505-2E9C-101B-9397-08002B2CF9AE}" pid="3" name="KSOProductBuildVer">
    <vt:lpwstr>1033-12.2.0.23131</vt:lpwstr>
  </property>
</Properties>
</file>